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65" r:id="rId5"/>
    <p:sldId id="258" r:id="rId6"/>
    <p:sldId id="266" r:id="rId7"/>
    <p:sldId id="259" r:id="rId8"/>
    <p:sldId id="260" r:id="rId9"/>
    <p:sldId id="261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1887" autoAdjust="0"/>
  </p:normalViewPr>
  <p:slideViewPr>
    <p:cSldViewPr snapToGrid="0" snapToObjects="1">
      <p:cViewPr varScale="1">
        <p:scale>
          <a:sx n="97" d="100"/>
          <a:sy n="97" d="100"/>
        </p:scale>
        <p:origin x="213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6694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985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364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74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1070" b="1070"/>
          <a:stretch/>
        </p:blipFill>
        <p:spPr>
          <a:xfrm>
            <a:off x="5029200" y="1005840"/>
            <a:ext cx="36576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 Analysis of </a:t>
            </a:r>
            <a:r>
              <a:rPr lang="en-US" sz="34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r>
              <a:rPr lang="en-US" sz="34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Music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7B1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Harnessing Apache Spark and Pandas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28098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2 – Big Data Module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27244" y="4584418"/>
            <a:ext cx="1292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1DF"/>
                </a:solidFill>
              </a:rPr>
              <a:t>29 July 2025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3490E0-ABE2-4AE4-8AF3-71FC80475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60" y="3084124"/>
            <a:ext cx="1953740" cy="18202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b="1" dirty="0"/>
          </a:p>
        </p:txBody>
      </p:sp>
      <p:sp>
        <p:nvSpPr>
          <p:cNvPr id="4" name="Text 1"/>
          <p:cNvSpPr/>
          <p:nvPr/>
        </p:nvSpPr>
        <p:spPr>
          <a:xfrm>
            <a:off x="868680" y="1463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Loading &amp; Initial Assessment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868680" y="20116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Data Cleaning &amp; Feature Engineering:</a:t>
            </a:r>
          </a:p>
        </p:txBody>
      </p:sp>
      <p:sp>
        <p:nvSpPr>
          <p:cNvPr id="8" name="Text 3"/>
          <p:cNvSpPr/>
          <p:nvPr/>
        </p:nvSpPr>
        <p:spPr>
          <a:xfrm>
            <a:off x="868680" y="2560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&amp; </a:t>
            </a:r>
            <a:r>
              <a:rPr lang="en-US" sz="1400" dirty="0"/>
              <a:t>Exploratory Data Analysis (EDA)</a:t>
            </a:r>
          </a:p>
        </p:txBody>
      </p:sp>
      <p:sp>
        <p:nvSpPr>
          <p:cNvPr id="10" name="Text 4"/>
          <p:cNvSpPr/>
          <p:nvPr/>
        </p:nvSpPr>
        <p:spPr>
          <a:xfrm>
            <a:off x="868680" y="31089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Key Insights &amp; Visualizations:</a:t>
            </a:r>
          </a:p>
        </p:txBody>
      </p:sp>
      <p:sp>
        <p:nvSpPr>
          <p:cNvPr id="12" name="Text 5"/>
          <p:cNvSpPr/>
          <p:nvPr/>
        </p:nvSpPr>
        <p:spPr>
          <a:xfrm>
            <a:off x="868680" y="3657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Optimization &amp; Final Output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2BF352-7B13-4117-A54A-E0BCF1FD0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89" y="1394049"/>
            <a:ext cx="414691" cy="27440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B8BA0A-252E-4C63-98D9-9784568DD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127955" y="1802133"/>
            <a:ext cx="4707472" cy="1938584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29ED8E1B-0722-451D-9841-3BA85475ACB4}"/>
              </a:ext>
            </a:extLst>
          </p:cNvPr>
          <p:cNvSpPr/>
          <p:nvPr/>
        </p:nvSpPr>
        <p:spPr>
          <a:xfrm>
            <a:off x="5225882" y="251460"/>
            <a:ext cx="3918118" cy="3111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050"/>
                </a:solidFill>
              </a:rPr>
              <a:t>artists.csv</a:t>
            </a:r>
          </a:p>
          <a:p>
            <a:pPr marL="0" indent="0" algn="ctr">
              <a:buNone/>
            </a:pPr>
            <a:endParaRPr lang="en-US" sz="1200" dirty="0">
              <a:solidFill>
                <a:srgbClr val="030A18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(popularity metrics of artists, 1.1M rows, 5 attributes)</a:t>
            </a:r>
          </a:p>
          <a:p>
            <a:pPr marL="0" indent="0">
              <a:buNone/>
            </a:pPr>
            <a:endParaRPr lang="en-US" sz="1200" dirty="0">
              <a:solidFill>
                <a:srgbClr val="030A18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id (Id of artist)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name (Name of artist)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followers (Total number of followers of artist)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popularity (Popularity of given artist based on all his/her tracks)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genres (Genres associated with this artist)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B301035-A1AA-4918-8F2F-BFFD1FAA9E8F}"/>
              </a:ext>
            </a:extLst>
          </p:cNvPr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Contents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4D143B2-A195-4AFD-A815-8E4396E79E2A}"/>
              </a:ext>
            </a:extLst>
          </p:cNvPr>
          <p:cNvSpPr/>
          <p:nvPr/>
        </p:nvSpPr>
        <p:spPr>
          <a:xfrm>
            <a:off x="313831" y="1483710"/>
            <a:ext cx="4156953" cy="3111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050"/>
                </a:solidFill>
              </a:rPr>
              <a:t>tracks.csv</a:t>
            </a:r>
          </a:p>
          <a:p>
            <a:pPr marL="0" indent="0">
              <a:buNone/>
            </a:pPr>
            <a:endParaRPr lang="en-US" sz="1400" dirty="0">
              <a:solidFill>
                <a:srgbClr val="030A18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 (audio features of tracks, 600k rows, 20 attributes)</a:t>
            </a:r>
          </a:p>
          <a:p>
            <a:pPr marL="0" indent="0">
              <a:buNone/>
            </a:pPr>
            <a:endParaRPr lang="en-US" sz="1200" dirty="0">
              <a:solidFill>
                <a:srgbClr val="030A18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30A18"/>
                </a:solidFill>
              </a:rPr>
              <a:t>id: Unique Spotify track identifier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30A18"/>
                </a:solidFill>
              </a:rPr>
              <a:t>name: Track title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30A18"/>
                </a:solidFill>
              </a:rPr>
              <a:t>popularity: Track popularity score (0-100)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030A18"/>
                </a:solidFill>
              </a:rPr>
              <a:t>duration_ms</a:t>
            </a:r>
            <a:r>
              <a:rPr lang="en-US" sz="1050" dirty="0">
                <a:solidFill>
                  <a:srgbClr val="030A18"/>
                </a:solidFill>
              </a:rPr>
              <a:t>: Track length in milliseconds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30A18"/>
                </a:solidFill>
              </a:rPr>
              <a:t>explicit: Boolean for explicit content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30A18"/>
                </a:solidFill>
              </a:rPr>
              <a:t>artists: List of artist names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030A18"/>
                </a:solidFill>
              </a:rPr>
              <a:t>id_artists</a:t>
            </a:r>
            <a:r>
              <a:rPr lang="en-US" sz="1050" dirty="0">
                <a:solidFill>
                  <a:srgbClr val="030A18"/>
                </a:solidFill>
              </a:rPr>
              <a:t>: List of artist IDs (foreign key relationship)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030A18"/>
                </a:solidFill>
              </a:rPr>
              <a:t>release_date</a:t>
            </a:r>
            <a:r>
              <a:rPr lang="en-US" sz="1050" dirty="0">
                <a:solidFill>
                  <a:srgbClr val="030A18"/>
                </a:solidFill>
              </a:rPr>
              <a:t>: Track release date</a:t>
            </a:r>
          </a:p>
          <a:p>
            <a:endParaRPr lang="en-US" sz="1050" dirty="0">
              <a:solidFill>
                <a:srgbClr val="030A18"/>
              </a:solidFill>
            </a:endParaRPr>
          </a:p>
          <a:p>
            <a:r>
              <a:rPr lang="en-US" sz="1050" dirty="0">
                <a:solidFill>
                  <a:srgbClr val="030A18"/>
                </a:solidFill>
              </a:rPr>
              <a:t>Audio Features: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30A18"/>
                </a:solidFill>
              </a:rPr>
              <a:t>danceability: How suitable for dancing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30A18"/>
                </a:solidFill>
              </a:rPr>
              <a:t>energy: Perceptual measure of intensity and activity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30A18"/>
                </a:solidFill>
              </a:rPr>
              <a:t>key: Musical key (0-11)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30A18"/>
                </a:solidFill>
              </a:rPr>
              <a:t>loudness: Overall loudness in decibels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30A18"/>
                </a:solidFill>
              </a:rPr>
              <a:t>mode: Major (1) or minor (0)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030A18"/>
                </a:solidFill>
              </a:rPr>
              <a:t>speechiness</a:t>
            </a:r>
            <a:r>
              <a:rPr lang="en-US" sz="1050" dirty="0">
                <a:solidFill>
                  <a:srgbClr val="030A18"/>
                </a:solidFill>
              </a:rPr>
              <a:t>: Presence of spoken words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030A18"/>
                </a:solidFill>
              </a:rPr>
              <a:t>acousticness</a:t>
            </a:r>
            <a:r>
              <a:rPr lang="en-US" sz="1050" dirty="0">
                <a:solidFill>
                  <a:srgbClr val="030A18"/>
                </a:solidFill>
              </a:rPr>
              <a:t>: Confidence measure of acoustic sound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030A18"/>
                </a:solidFill>
              </a:rPr>
              <a:t>instrumentalness</a:t>
            </a:r>
            <a:r>
              <a:rPr lang="en-US" sz="1050" dirty="0">
                <a:solidFill>
                  <a:srgbClr val="030A18"/>
                </a:solidFill>
              </a:rPr>
              <a:t>: Predicts if track contains no vocals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30A18"/>
                </a:solidFill>
              </a:rPr>
              <a:t>liveness: Presence of audience in recording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30A18"/>
                </a:solidFill>
              </a:rPr>
              <a:t>valence: Musical positivity conveyed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030A18"/>
                </a:solidFill>
              </a:rPr>
              <a:t>tempo: Beats per minute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030A18"/>
                </a:solidFill>
              </a:rPr>
              <a:t>time_signature</a:t>
            </a:r>
            <a:r>
              <a:rPr lang="en-US" sz="1050" dirty="0">
                <a:solidFill>
                  <a:srgbClr val="030A18"/>
                </a:solidFill>
              </a:rPr>
              <a:t>: Meter of the track</a:t>
            </a:r>
          </a:p>
          <a:p>
            <a:pPr marL="0" indent="0">
              <a:buNone/>
            </a:pPr>
            <a:endParaRPr lang="en-US" sz="1400" dirty="0">
              <a:solidFill>
                <a:srgbClr val="030A1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4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5F72B82-6335-4362-9718-D761C3FCC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1" y="632113"/>
            <a:ext cx="9048045" cy="45113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3636F4-5DBE-41D8-B274-BCD456FA2BC6}"/>
              </a:ext>
            </a:extLst>
          </p:cNvPr>
          <p:cNvSpPr txBox="1"/>
          <p:nvPr/>
        </p:nvSpPr>
        <p:spPr>
          <a:xfrm>
            <a:off x="547990" y="75048"/>
            <a:ext cx="83424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Goals:</a:t>
            </a:r>
          </a:p>
          <a:p>
            <a:pPr algn="ctr"/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5B48AD-BF7A-4E0F-AD2F-56FD86B01B8E}"/>
              </a:ext>
            </a:extLst>
          </p:cNvPr>
          <p:cNvSpPr txBox="1"/>
          <p:nvPr/>
        </p:nvSpPr>
        <p:spPr>
          <a:xfrm>
            <a:off x="437144" y="1025515"/>
            <a:ext cx="2454613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B050"/>
                </a:solidFill>
              </a:rPr>
              <a:t>1. </a:t>
            </a:r>
            <a:r>
              <a:rPr lang="en-US" sz="1200" b="1" dirty="0"/>
              <a:t>Primary Technical Goal:</a:t>
            </a:r>
          </a:p>
          <a:p>
            <a:r>
              <a:rPr lang="en-US" sz="1200" dirty="0"/>
              <a:t>To process and clean a large-scale Spotify dataset using </a:t>
            </a:r>
            <a:r>
              <a:rPr lang="en-US" sz="1200" dirty="0" err="1"/>
              <a:t>PySpark</a:t>
            </a:r>
            <a:r>
              <a:rPr lang="en-US" sz="1200" dirty="0"/>
              <a:t>, transforming raw, messy data into a structured and analysis-ready format.</a:t>
            </a:r>
            <a:endParaRPr 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03415E-F8EB-4F68-8408-20E3AD3381A0}"/>
              </a:ext>
            </a:extLst>
          </p:cNvPr>
          <p:cNvSpPr txBox="1"/>
          <p:nvPr/>
        </p:nvSpPr>
        <p:spPr>
          <a:xfrm>
            <a:off x="1707562" y="3442353"/>
            <a:ext cx="24546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2. </a:t>
            </a:r>
            <a:r>
              <a:rPr lang="en-US" sz="1200" b="1" dirty="0"/>
              <a:t>Primary Analytical Goal:</a:t>
            </a:r>
            <a:r>
              <a:rPr lang="en-US" sz="1200" dirty="0"/>
              <a:t> To uncover key trends in music over the decades by analyzing the evolution of audio features like </a:t>
            </a:r>
            <a:r>
              <a:rPr lang="en-US" sz="1200" b="1" dirty="0"/>
              <a:t>energy</a:t>
            </a:r>
            <a:r>
              <a:rPr lang="en-US" sz="1200" dirty="0"/>
              <a:t>, </a:t>
            </a:r>
            <a:r>
              <a:rPr lang="en-US" sz="1200" b="1" dirty="0"/>
              <a:t>danceability</a:t>
            </a:r>
            <a:r>
              <a:rPr lang="en-US" sz="1200" dirty="0"/>
              <a:t>, and </a:t>
            </a:r>
            <a:r>
              <a:rPr lang="en-US" sz="1200" b="1" dirty="0"/>
              <a:t>valence</a:t>
            </a:r>
            <a:r>
              <a:rPr lang="en-US" sz="1200" dirty="0"/>
              <a:t>.</a:t>
            </a:r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8F6DEE-6E2E-45DC-9F38-19C783A023E7}"/>
              </a:ext>
            </a:extLst>
          </p:cNvPr>
          <p:cNvSpPr txBox="1"/>
          <p:nvPr/>
        </p:nvSpPr>
        <p:spPr>
          <a:xfrm>
            <a:off x="5425781" y="3442353"/>
            <a:ext cx="24546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4. </a:t>
            </a:r>
            <a:r>
              <a:rPr lang="en-US" sz="1200" b="1" dirty="0"/>
              <a:t>Temporal Trend Analysis</a:t>
            </a:r>
          </a:p>
          <a:p>
            <a:r>
              <a:rPr lang="en-US" sz="1200" dirty="0"/>
              <a:t>Performing time-series analysis on "track.csv" data. Work on visualizations or statistical analysis</a:t>
            </a:r>
            <a:br>
              <a:rPr lang="en-US" sz="1200" b="1" dirty="0"/>
            </a:br>
            <a:endParaRPr lang="en-US" sz="1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1476AD-79A8-40A6-92DF-21B59B34B384}"/>
              </a:ext>
            </a:extLst>
          </p:cNvPr>
          <p:cNvSpPr txBox="1"/>
          <p:nvPr/>
        </p:nvSpPr>
        <p:spPr>
          <a:xfrm>
            <a:off x="3364448" y="1025515"/>
            <a:ext cx="24546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3. </a:t>
            </a:r>
            <a:r>
              <a:rPr lang="en-US" sz="1200" b="1" dirty="0"/>
              <a:t>Key Insight Goal:</a:t>
            </a:r>
          </a:p>
          <a:p>
            <a:r>
              <a:rPr lang="en-US" sz="1200" dirty="0"/>
              <a:t>To identify the core audio characteristics that differentiate popular songs from unpopular ones, providing data-driven insights into what attributes might contribute to a track's success.</a:t>
            </a:r>
            <a:endParaRPr 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2B4533-DEE9-4F25-9E67-66094D0C3F96}"/>
              </a:ext>
            </a:extLst>
          </p:cNvPr>
          <p:cNvSpPr txBox="1"/>
          <p:nvPr/>
        </p:nvSpPr>
        <p:spPr>
          <a:xfrm>
            <a:off x="6760723" y="998378"/>
            <a:ext cx="245461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5. </a:t>
            </a:r>
            <a:r>
              <a:rPr lang="en-US" sz="1200" b="1" dirty="0"/>
              <a:t>Final Outcome Goal:</a:t>
            </a:r>
          </a:p>
          <a:p>
            <a:r>
              <a:rPr lang="en-US" sz="1200" dirty="0"/>
              <a:t>To produce a clean, optimized, and partitioned dataset that is ready for more advanced analytics or machine learning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540698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8CA82A-D663-4EEB-91EE-988582439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1" y="0"/>
            <a:ext cx="9042400" cy="513825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74320" y="54981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The Data Challenge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530434" y="2512679"/>
            <a:ext cx="2932508" cy="2289842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84223" y="2659702"/>
            <a:ext cx="293250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</a:p>
          <a:p>
            <a:pPr marL="0" indent="0">
              <a:buNone/>
            </a:pPr>
            <a:endParaRPr lang="en-US" sz="800" dirty="0">
              <a:solidFill>
                <a:srgbClr val="030A1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the CSV and display schema</a:t>
            </a:r>
          </a:p>
          <a:p>
            <a:pPr marL="0" indent="0">
              <a:buNone/>
            </a:pPr>
            <a:endParaRPr lang="en-US" sz="800" dirty="0">
              <a:solidFill>
                <a:srgbClr val="00B05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tracks_df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spark.read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.option("header", "true") \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.csv("tracks.csv")</a:t>
            </a:r>
          </a:p>
          <a:p>
            <a:pPr marL="0" indent="0">
              <a:buNone/>
            </a:pPr>
            <a:endParaRPr lang="en-US" sz="800" dirty="0">
              <a:solidFill>
                <a:srgbClr val="00B05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tracks_df.printSchema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>
              <a:buNone/>
            </a:pPr>
            <a:endParaRPr lang="en-US" sz="800" dirty="0">
              <a:solidFill>
                <a:srgbClr val="030A1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800" dirty="0">
              <a:solidFill>
                <a:srgbClr val="030A1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|-- id: string (nullable = true)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|-- name: string (nullable = true)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|-- popularity: string (nullable = true)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|-- 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duration_ms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string (nullable = true)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|-- explicit: string (nullable = true)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 (and so on for all columns)</a:t>
            </a:r>
            <a:endParaRPr lang="en-US" sz="800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9651B-ECC8-46C6-9AB2-CD7F86003812}"/>
              </a:ext>
            </a:extLst>
          </p:cNvPr>
          <p:cNvSpPr txBox="1"/>
          <p:nvPr/>
        </p:nvSpPr>
        <p:spPr>
          <a:xfrm>
            <a:off x="157523" y="843741"/>
            <a:ext cx="320552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Objective:</a:t>
            </a:r>
          </a:p>
          <a:p>
            <a:r>
              <a:rPr lang="en-US" sz="1400" dirty="0"/>
              <a:t>To process and clean a large-scale, raw Spotify dataset (tracks.csv) and transform it into a clean, analysis-ready format using </a:t>
            </a:r>
            <a:r>
              <a:rPr lang="en-US" sz="1400" dirty="0" err="1"/>
              <a:t>PySpark</a:t>
            </a:r>
            <a:r>
              <a:rPr lang="en-US" sz="14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5AA96F-81E2-4F00-886F-ED1C6420807D}"/>
              </a:ext>
            </a:extLst>
          </p:cNvPr>
          <p:cNvSpPr txBox="1"/>
          <p:nvPr/>
        </p:nvSpPr>
        <p:spPr>
          <a:xfrm>
            <a:off x="4640297" y="841576"/>
            <a:ext cx="4572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Initial State: </a:t>
            </a:r>
            <a:r>
              <a:rPr lang="en-US" sz="1400" dirty="0"/>
              <a:t>Incorrect Data Types: All 20 columns, including numerical features like popularity and dates, were initially read as string types.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Messy Data Formats: </a:t>
            </a:r>
            <a:r>
              <a:rPr lang="en-US" sz="1400" dirty="0"/>
              <a:t>Data required significant cleaning, including parsing nested string arrays (e.g., ['Artist Name']) and handling inconsistent date formats.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Scale: </a:t>
            </a:r>
            <a:r>
              <a:rPr lang="en-US" sz="1400" dirty="0"/>
              <a:t>The dataset contains nearly 500,000 tracks, necessitating a distributed framework like Spark.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F8AA648-7FB2-46C5-8100-6BB8107D2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74320" y="-4909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Feature Engineering in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454244" y="2571750"/>
            <a:ext cx="3857149" cy="2184319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82833" y="2431762"/>
            <a:ext cx="3599969" cy="2464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</a:p>
          <a:p>
            <a:pPr marL="0" indent="0">
              <a:buNone/>
            </a:pPr>
            <a:endParaRPr lang="en-US" sz="800" dirty="0">
              <a:solidFill>
                <a:srgbClr val="030A1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to date type using a robust, multi-format approach</a:t>
            </a:r>
          </a:p>
          <a:p>
            <a:pPr marL="0" indent="0">
              <a:buNone/>
            </a:pP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tracks_clean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tracks_clean.withColumn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release_date_formatted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coalesce(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to_date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(col("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release_date_parsed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"), "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-MM-dd"),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to_date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(col("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release_date_parsed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"), "M/d/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to_date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(col("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release_date_parsed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"), "MM/dd/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endParaRPr lang="en-US" sz="800" dirty="0">
              <a:solidFill>
                <a:srgbClr val="030A18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39651B-ECC8-46C6-9AB2-CD7F86003812}"/>
              </a:ext>
            </a:extLst>
          </p:cNvPr>
          <p:cNvSpPr txBox="1"/>
          <p:nvPr/>
        </p:nvSpPr>
        <p:spPr>
          <a:xfrm>
            <a:off x="157523" y="843741"/>
            <a:ext cx="320552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Objective:</a:t>
            </a:r>
          </a:p>
          <a:p>
            <a:r>
              <a:rPr lang="en-US" sz="1400" dirty="0"/>
              <a:t>To process and clean a large-scale, raw Spotify dataset (tracks.csv) and transform it into a clean, analysis-ready format using </a:t>
            </a:r>
            <a:r>
              <a:rPr lang="en-US" sz="1400" dirty="0" err="1"/>
              <a:t>PySpark</a:t>
            </a:r>
            <a:r>
              <a:rPr lang="en-US" sz="14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BF445E-C6F8-4BF8-9777-F76946C1077E}"/>
              </a:ext>
            </a:extLst>
          </p:cNvPr>
          <p:cNvSpPr txBox="1"/>
          <p:nvPr/>
        </p:nvSpPr>
        <p:spPr>
          <a:xfrm>
            <a:off x="4491317" y="777240"/>
            <a:ext cx="4572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Corrected Data Types: </a:t>
            </a:r>
            <a:r>
              <a:rPr lang="en-US" sz="1200" dirty="0"/>
              <a:t>Cast over 15 columns from their initial string format to appropriate types like Integer, Float, and Date to enable numerical and temporal analysis.</a:t>
            </a:r>
          </a:p>
          <a:p>
            <a:endParaRPr lang="en-US" sz="1200" dirty="0"/>
          </a:p>
          <a:p>
            <a:r>
              <a:rPr lang="en-US" sz="1200" b="1" dirty="0"/>
              <a:t>Advanced Date &amp; String Parsing: </a:t>
            </a:r>
            <a:r>
              <a:rPr lang="en-US" sz="1200" dirty="0"/>
              <a:t>Implemented robust parsing for inconsistent data. For example, used a coalesce strategy to handle multiple date formats and </a:t>
            </a:r>
            <a:r>
              <a:rPr lang="en-US" sz="1200" dirty="0" err="1"/>
              <a:t>regexp_replace</a:t>
            </a:r>
            <a:r>
              <a:rPr lang="en-US" sz="1200" dirty="0"/>
              <a:t> to clean nested artist strings like ['Artist Name’].</a:t>
            </a:r>
          </a:p>
          <a:p>
            <a:endParaRPr lang="en-US" sz="1200" dirty="0"/>
          </a:p>
          <a:p>
            <a:r>
              <a:rPr lang="en-US" sz="1200" b="1" dirty="0"/>
              <a:t>Feature Engineering: </a:t>
            </a:r>
            <a:r>
              <a:rPr lang="en-US" sz="1200" dirty="0"/>
              <a:t>Enriched the dataset by creating new, analysis-friendly columns: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Converted track duration to minutes.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Extracted </a:t>
            </a:r>
            <a:r>
              <a:rPr lang="en-US" sz="1200" dirty="0" err="1"/>
              <a:t>release_year</a:t>
            </a:r>
            <a:r>
              <a:rPr lang="en-US" sz="1200" dirty="0"/>
              <a:t> and created a </a:t>
            </a:r>
            <a:r>
              <a:rPr lang="en-US" sz="1200" dirty="0" err="1"/>
              <a:t>release_decade</a:t>
            </a:r>
            <a:r>
              <a:rPr lang="en-US" sz="1200" dirty="0"/>
              <a:t> for trend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Binned numerical features into categories (e.g., </a:t>
            </a:r>
            <a:r>
              <a:rPr lang="en-US" sz="1200" dirty="0" err="1"/>
              <a:t>energy_category</a:t>
            </a:r>
            <a:r>
              <a:rPr lang="en-US" sz="1200" dirty="0"/>
              <a:t>: Low, Medium, High).</a:t>
            </a:r>
          </a:p>
          <a:p>
            <a:endParaRPr lang="en-US" sz="1200" dirty="0"/>
          </a:p>
          <a:p>
            <a:r>
              <a:rPr lang="en-US" sz="1200" b="1" dirty="0"/>
              <a:t>Handled Missing Values: </a:t>
            </a:r>
            <a:r>
              <a:rPr lang="en-US" sz="1200" dirty="0"/>
              <a:t>Filled the small number of nulls in numeric audio features using median imputation, a method robust to outliers.</a:t>
            </a:r>
          </a:p>
        </p:txBody>
      </p:sp>
    </p:spTree>
    <p:extLst>
      <p:ext uri="{BB962C8B-B14F-4D97-AF65-F5344CB8AC3E}">
        <p14:creationId xmlns:p14="http://schemas.microsoft.com/office/powerpoint/2010/main" val="1401429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754" y="9575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/>
              <a:t>How Has Music Evolved Over Time?</a:t>
            </a:r>
          </a:p>
          <a:p>
            <a:pPr marL="0" indent="0" algn="ctr">
              <a:buNone/>
            </a:pPr>
            <a:endParaRPr lang="en-US" sz="2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C14363-86BA-4F77-BC9B-CD795D8C1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281" y="553827"/>
            <a:ext cx="5332720" cy="2894516"/>
          </a:xfrm>
          <a:prstGeom prst="rect">
            <a:avLst/>
          </a:prstGeom>
        </p:spPr>
      </p:pic>
      <p:sp>
        <p:nvSpPr>
          <p:cNvPr id="14" name="Shape 2">
            <a:extLst>
              <a:ext uri="{FF2B5EF4-FFF2-40B4-BE49-F238E27FC236}">
                <a16:creationId xmlns:a16="http://schemas.microsoft.com/office/drawing/2014/main" id="{D25C666D-88F8-4384-B924-832817B4B0C8}"/>
              </a:ext>
            </a:extLst>
          </p:cNvPr>
          <p:cNvSpPr/>
          <p:nvPr/>
        </p:nvSpPr>
        <p:spPr>
          <a:xfrm>
            <a:off x="200257" y="3187735"/>
            <a:ext cx="3857149" cy="1860015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A50B3A43-6285-45F2-AC66-E93E41975052}"/>
              </a:ext>
            </a:extLst>
          </p:cNvPr>
          <p:cNvSpPr/>
          <p:nvPr/>
        </p:nvSpPr>
        <p:spPr>
          <a:xfrm>
            <a:off x="243968" y="2983410"/>
            <a:ext cx="3599969" cy="226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</a:p>
          <a:p>
            <a:pPr marL="0" indent="0">
              <a:buNone/>
            </a:pPr>
            <a:endParaRPr lang="en-US" sz="800" dirty="0">
              <a:solidFill>
                <a:srgbClr val="00B05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Aggregate average audio features by decade</a:t>
            </a:r>
          </a:p>
          <a:p>
            <a:pPr marL="0" indent="0">
              <a:buNone/>
            </a:pP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decade_audio_features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tracks_clean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.filter(col("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release_decade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").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isNotNull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\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release_decade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 \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avg("danceability").alias("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avg_danceability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avg("energy").alias("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avg_energy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avg("valence").alias("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avg_valence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"),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avg("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acousticness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").alias("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avg_acousticness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\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release_decade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 \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toPandas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E1989E-A6B0-46A9-A92F-52F05EC94F37}"/>
              </a:ext>
            </a:extLst>
          </p:cNvPr>
          <p:cNvSpPr txBox="1"/>
          <p:nvPr/>
        </p:nvSpPr>
        <p:spPr>
          <a:xfrm>
            <a:off x="0" y="750166"/>
            <a:ext cx="4087906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Key 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 significant shift from acoustic to electric and electronic music is visible, with average </a:t>
            </a:r>
            <a:r>
              <a:rPr lang="en-US" sz="1200" dirty="0" err="1"/>
              <a:t>acousticness</a:t>
            </a:r>
            <a:r>
              <a:rPr lang="en-US" sz="1200" dirty="0"/>
              <a:t> dropping sharply after the 1950s.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Music has become consistently more energetic and danceable over the decades.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overall "happiness" of music, or valence, has remained relatively stable throughout the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volume of track releases grew massively from the 1950s onwards.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What is the DNA of a Hit Song?</a:t>
            </a: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845FB9-0D3F-4AA6-9623-D44433CA7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281" y="610113"/>
            <a:ext cx="5332719" cy="26776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74F93A-A641-43F7-AEC4-E407AEB1876B}"/>
              </a:ext>
            </a:extLst>
          </p:cNvPr>
          <p:cNvSpPr txBox="1"/>
          <p:nvPr/>
        </p:nvSpPr>
        <p:spPr>
          <a:xfrm>
            <a:off x="0" y="610112"/>
            <a:ext cx="3934225" cy="2663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Method: To find the characteristics of a hit, tracks were segmented into "Popular" (score &gt; 50) and "Unpopular," and their average audio features were compared.</a:t>
            </a:r>
          </a:p>
          <a:p>
            <a:endParaRPr lang="en-US" sz="1200" dirty="0"/>
          </a:p>
          <a:p>
            <a:r>
              <a:rPr lang="en-US" sz="1200" dirty="0"/>
              <a:t>Key Findings:</a:t>
            </a:r>
          </a:p>
          <a:p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Popular songs are significantly more energetic and danceable than unpopular 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They are also far less acoustic and instrumental, suggesting a preference for vocal-driven, electronic production.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The "happiness" (valence) of a song is nearly identical between both groups, indicating that emotional tone is not a primary factor in determining popularity.</a:t>
            </a:r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2EC8162B-3F92-4CE9-96F0-7A0B4604140F}"/>
              </a:ext>
            </a:extLst>
          </p:cNvPr>
          <p:cNvSpPr/>
          <p:nvPr/>
        </p:nvSpPr>
        <p:spPr>
          <a:xfrm>
            <a:off x="342204" y="3663930"/>
            <a:ext cx="4047684" cy="1206395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4D29344-2642-4578-B849-3DF9C868E483}"/>
              </a:ext>
            </a:extLst>
          </p:cNvPr>
          <p:cNvSpPr/>
          <p:nvPr/>
        </p:nvSpPr>
        <p:spPr>
          <a:xfrm>
            <a:off x="524316" y="3863715"/>
            <a:ext cx="3963159" cy="761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Segment the data based on popularity score</a:t>
            </a:r>
          </a:p>
          <a:p>
            <a:pPr marL="0" indent="0">
              <a:buNone/>
            </a:pP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popular_songs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tracks_clean.filter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(col("popularity") &gt; 50)</a:t>
            </a:r>
          </a:p>
          <a:p>
            <a:pPr marL="0" indent="0">
              <a:buNone/>
            </a:pPr>
            <a:endParaRPr lang="en-US" sz="800" dirty="0">
              <a:solidFill>
                <a:srgbClr val="00B05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unpopular_songs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tracks_clean.filter</a:t>
            </a:r>
            <a:r>
              <a:rPr lang="en-US" sz="8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(col("popularity") &lt;= 50)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3893" y="100143"/>
            <a:ext cx="85162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/>
              <a:t>Conclusion: A Cleaned &amp; Optimized Dataset</a:t>
            </a:r>
          </a:p>
        </p:txBody>
      </p:sp>
      <p:sp>
        <p:nvSpPr>
          <p:cNvPr id="5" name="Shape 2"/>
          <p:cNvSpPr/>
          <p:nvPr/>
        </p:nvSpPr>
        <p:spPr>
          <a:xfrm>
            <a:off x="5029200" y="2011680"/>
            <a:ext cx="3749040" cy="2011680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074920" y="205740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</a:p>
          <a:p>
            <a:pPr marL="0" indent="0">
              <a:buNone/>
            </a:pPr>
            <a:endParaRPr lang="en-US" sz="900" dirty="0">
              <a:solidFill>
                <a:srgbClr val="00B05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as a partitioned Parquet file for efficient reads</a:t>
            </a:r>
          </a:p>
          <a:p>
            <a:pPr marL="0" indent="0">
              <a:buNone/>
            </a:pPr>
            <a:r>
              <a:rPr lang="en-US" sz="9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output_path</a:t>
            </a:r>
            <a:r>
              <a:rPr lang="en-US" sz="9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r>
              <a:rPr lang="en-US" sz="9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spotify_tracks_cleaned</a:t>
            </a:r>
            <a:r>
              <a:rPr lang="en-US" sz="9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</a:p>
          <a:p>
            <a:pPr marL="0" indent="0">
              <a:buNone/>
            </a:pPr>
            <a:endParaRPr lang="en-US" sz="900" dirty="0">
              <a:solidFill>
                <a:srgbClr val="00B05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tracks_final.write</a:t>
            </a:r>
            <a:r>
              <a:rPr lang="en-US" sz="9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.mode("overwrite") \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9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partitionBy</a:t>
            </a:r>
            <a:r>
              <a:rPr lang="en-US" sz="9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</a:t>
            </a:r>
            <a:r>
              <a:rPr lang="en-US" sz="9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release_decade</a:t>
            </a:r>
            <a:r>
              <a:rPr lang="en-US" sz="9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 \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.parquet(</a:t>
            </a:r>
            <a:r>
              <a:rPr lang="en-US" sz="900" dirty="0" err="1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output_path</a:t>
            </a:r>
            <a:r>
              <a:rPr lang="en-US" sz="900" dirty="0">
                <a:solidFill>
                  <a:srgbClr val="00B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80242C-9A98-4652-8D9C-41B4F4B9A6FB}"/>
              </a:ext>
            </a:extLst>
          </p:cNvPr>
          <p:cNvSpPr txBox="1"/>
          <p:nvPr/>
        </p:nvSpPr>
        <p:spPr>
          <a:xfrm>
            <a:off x="159443" y="985344"/>
            <a:ext cx="466805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Performance Optimization: </a:t>
            </a:r>
            <a:r>
              <a:rPr lang="en-US" sz="1200" dirty="0"/>
              <a:t>Leveraged Spark's capabilities by repartitioning the data by </a:t>
            </a:r>
            <a:r>
              <a:rPr lang="en-US" sz="1200" dirty="0" err="1"/>
              <a:t>release_year</a:t>
            </a:r>
            <a:r>
              <a:rPr lang="en-US" sz="1200" dirty="0"/>
              <a:t> to speed up temporal queries and caching the cleaned </a:t>
            </a:r>
            <a:r>
              <a:rPr lang="en-US" sz="1200" dirty="0" err="1"/>
              <a:t>DataFrame</a:t>
            </a:r>
            <a:r>
              <a:rPr lang="en-US" sz="1200" dirty="0"/>
              <a:t> in memory for faster iterative analysis.</a:t>
            </a:r>
          </a:p>
          <a:p>
            <a:endParaRPr lang="en-US" sz="1200" dirty="0"/>
          </a:p>
          <a:p>
            <a:r>
              <a:rPr lang="en-US" sz="1200" b="1" dirty="0"/>
              <a:t>Efficient Storage: </a:t>
            </a:r>
            <a:r>
              <a:rPr lang="en-US" sz="1200" dirty="0"/>
              <a:t>Saved the final dataset in Parquet format, a highly efficient columnar storage that is superior to CSV for analytical workloads and faster reads.</a:t>
            </a:r>
          </a:p>
          <a:p>
            <a:endParaRPr lang="en-US" sz="1200" dirty="0"/>
          </a:p>
          <a:p>
            <a:r>
              <a:rPr lang="en-US" sz="1200" b="1" dirty="0"/>
              <a:t>Data Partitioning: </a:t>
            </a:r>
            <a:r>
              <a:rPr lang="en-US" sz="1200" dirty="0"/>
              <a:t>The output data was partitioned on disk by decade. This is a key optimization that allows Spark to skip reading unnecessary data, dramatically speeding up any future analysis that filters by a specific time period.</a:t>
            </a:r>
          </a:p>
          <a:p>
            <a:endParaRPr lang="en-US" sz="1200" dirty="0"/>
          </a:p>
          <a:p>
            <a:r>
              <a:rPr lang="en-US" sz="1200" b="1" dirty="0"/>
              <a:t>Final Product: </a:t>
            </a:r>
            <a:r>
              <a:rPr lang="en-US" sz="1200" dirty="0"/>
              <a:t>A clean, enriched, and optimized dataset of nearly 500,000 tracks, ready for advanced analytics or machine learning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EACFFFA-CA9B-4E4C-A111-E0C68C351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787" y="2389011"/>
            <a:ext cx="4933244" cy="2698044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&amp; Future Work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822960" y="132588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Business Impact
</a:t>
            </a:r>
            <a:r>
              <a:rPr lang="en-US" sz="1100" dirty="0">
                <a:solidFill>
                  <a:srgbClr val="030A18"/>
                </a:solidFill>
              </a:rPr>
              <a:t>• Data‑driven A&amp;R: identify emerging artists
• Marketing: optimise release timing &amp; collaborations
• Product: enhance recommendation engines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486400" y="13258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0A18"/>
                </a:solidFill>
              </a:rPr>
              <a:t>Future Work
</a:t>
            </a:r>
            <a:r>
              <a:rPr lang="en-US" sz="1100" dirty="0">
                <a:solidFill>
                  <a:srgbClr val="030A18"/>
                </a:solidFill>
              </a:rPr>
              <a:t>• Real‑time analytics for viral songs
• Graph analysis of artist networks
• Deep learning for genre &amp; mood classification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" y="3434499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B954"/>
                </a:solidFill>
              </a:rPr>
              <a:t>Thank you! Questions?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91B27E-9676-4F55-86A3-D5B8E1F6F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36" y="1211571"/>
            <a:ext cx="452846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1487</Words>
  <Application>Microsoft Office PowerPoint</Application>
  <PresentationFormat>On-screen Show (16:9)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Mokhtar Farvaresh</dc:creator>
  <cp:lastModifiedBy>Mokhtar farvaresh</cp:lastModifiedBy>
  <cp:revision>34</cp:revision>
  <dcterms:created xsi:type="dcterms:W3CDTF">2025-07-27T12:18:34Z</dcterms:created>
  <dcterms:modified xsi:type="dcterms:W3CDTF">2025-07-27T16:18:57Z</dcterms:modified>
</cp:coreProperties>
</file>